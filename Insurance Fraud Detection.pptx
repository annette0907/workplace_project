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580" autoAdjust="0"/>
    <p:restoredTop sz="94660"/>
  </p:normalViewPr>
  <p:slideViewPr>
    <p:cSldViewPr snapToGrid="0">
      <p:cViewPr>
        <p:scale>
          <a:sx n="60" d="100"/>
          <a:sy n="60" d="100"/>
        </p:scale>
        <p:origin x="1478" y="5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FF15A6-EB7E-420A-815B-D328C8D2047A}" type="datetimeFigureOut">
              <a:rPr lang="en-ZA" smtClean="0"/>
              <a:t>2025/04/11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AB9C3-697D-48DA-ADC9-8B94513CC90A}" type="slidenum">
              <a:rPr lang="en-ZA" smtClean="0"/>
              <a:t>‹#›</a:t>
            </a:fld>
            <a:endParaRPr lang="en-ZA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0990825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FF15A6-EB7E-420A-815B-D328C8D2047A}" type="datetimeFigureOut">
              <a:rPr lang="en-ZA" smtClean="0"/>
              <a:t>2025/04/11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AB9C3-697D-48DA-ADC9-8B94513CC90A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82887948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FF15A6-EB7E-420A-815B-D328C8D2047A}" type="datetimeFigureOut">
              <a:rPr lang="en-ZA" smtClean="0"/>
              <a:t>2025/04/11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AB9C3-697D-48DA-ADC9-8B94513CC90A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7112960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FF15A6-EB7E-420A-815B-D328C8D2047A}" type="datetimeFigureOut">
              <a:rPr lang="en-ZA" smtClean="0"/>
              <a:t>2025/04/11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AB9C3-697D-48DA-ADC9-8B94513CC90A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8817100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FF15A6-EB7E-420A-815B-D328C8D2047A}" type="datetimeFigureOut">
              <a:rPr lang="en-ZA" smtClean="0"/>
              <a:t>2025/04/11</a:t>
            </a:fld>
            <a:endParaRPr lang="en-Z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AB9C3-697D-48DA-ADC9-8B94513CC90A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4224862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FF15A6-EB7E-420A-815B-D328C8D2047A}" type="datetimeFigureOut">
              <a:rPr lang="en-ZA" smtClean="0"/>
              <a:t>2025/04/11</a:t>
            </a:fld>
            <a:endParaRPr lang="en-Z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AB9C3-697D-48DA-ADC9-8B94513CC90A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58134384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FF15A6-EB7E-420A-815B-D328C8D2047A}" type="datetimeFigureOut">
              <a:rPr lang="en-ZA" smtClean="0"/>
              <a:t>2025/04/11</a:t>
            </a:fld>
            <a:endParaRPr lang="en-Z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AB9C3-697D-48DA-ADC9-8B94513CC90A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16049359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FF15A6-EB7E-420A-815B-D328C8D2047A}" type="datetimeFigureOut">
              <a:rPr lang="en-ZA" smtClean="0"/>
              <a:t>2025/04/11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AB9C3-697D-48DA-ADC9-8B94513CC90A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415413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FF15A6-EB7E-420A-815B-D328C8D2047A}" type="datetimeFigureOut">
              <a:rPr lang="en-ZA" smtClean="0"/>
              <a:t>2025/04/11</a:t>
            </a:fld>
            <a:endParaRPr lang="en-Z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AB9C3-697D-48DA-ADC9-8B94513CC90A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54896798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FF15A6-EB7E-420A-815B-D328C8D2047A}" type="datetimeFigureOut">
              <a:rPr lang="en-ZA" smtClean="0"/>
              <a:t>2025/04/11</a:t>
            </a:fld>
            <a:endParaRPr lang="en-Z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AB9C3-697D-48DA-ADC9-8B94513CC90A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4841132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FF15A6-EB7E-420A-815B-D328C8D2047A}" type="datetimeFigureOut">
              <a:rPr lang="en-ZA" smtClean="0"/>
              <a:t>2025/04/11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AB9C3-697D-48DA-ADC9-8B94513CC90A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76136185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FF15A6-EB7E-420A-815B-D328C8D2047A}" type="datetimeFigureOut">
              <a:rPr lang="en-ZA" smtClean="0"/>
              <a:t>2025/04/11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AB9C3-697D-48DA-ADC9-8B94513CC90A}" type="slidenum">
              <a:rPr lang="en-ZA" smtClean="0"/>
              <a:t>‹#›</a:t>
            </a:fld>
            <a:endParaRPr lang="en-ZA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68981124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FF15A6-EB7E-420A-815B-D328C8D2047A}" type="datetimeFigureOut">
              <a:rPr lang="en-ZA" smtClean="0"/>
              <a:t>2025/04/11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AB9C3-697D-48DA-ADC9-8B94513CC90A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93451512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FF15A6-EB7E-420A-815B-D328C8D2047A}" type="datetimeFigureOut">
              <a:rPr lang="en-ZA" smtClean="0"/>
              <a:t>2025/04/11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AB9C3-697D-48DA-ADC9-8B94513CC90A}" type="slidenum">
              <a:rPr lang="en-ZA" smtClean="0"/>
              <a:t>‹#›</a:t>
            </a:fld>
            <a:endParaRPr lang="en-ZA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44280973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FF15A6-EB7E-420A-815B-D328C8D2047A}" type="datetimeFigureOut">
              <a:rPr lang="en-ZA" smtClean="0"/>
              <a:t>2025/04/11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AB9C3-697D-48DA-ADC9-8B94513CC90A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3508887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FF15A6-EB7E-420A-815B-D328C8D2047A}" type="datetimeFigureOut">
              <a:rPr lang="en-ZA" smtClean="0"/>
              <a:t>2025/04/11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AB9C3-697D-48DA-ADC9-8B94513CC90A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265789097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FF15A6-EB7E-420A-815B-D328C8D2047A}" type="datetimeFigureOut">
              <a:rPr lang="en-ZA" smtClean="0"/>
              <a:t>2025/04/11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2EAB9C3-697D-48DA-ADC9-8B94513CC90A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40010078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FDFF15A6-EB7E-420A-815B-D328C8D2047A}" type="datetimeFigureOut">
              <a:rPr lang="en-ZA" smtClean="0"/>
              <a:t>2025/04/11</a:t>
            </a:fld>
            <a:endParaRPr lang="en-Z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en-Z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E2EAB9C3-697D-48DA-ADC9-8B94513CC90A}" type="slidenum">
              <a:rPr lang="en-ZA" smtClean="0"/>
              <a:t>‹#›</a:t>
            </a:fld>
            <a:endParaRPr lang="en-ZA"/>
          </a:p>
        </p:txBody>
      </p:sp>
    </p:spTree>
    <p:extLst>
      <p:ext uri="{BB962C8B-B14F-4D97-AF65-F5344CB8AC3E}">
        <p14:creationId xmlns:p14="http://schemas.microsoft.com/office/powerpoint/2010/main" val="305115126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  <p:sldLayoutId id="2147483695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50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50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50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50000"/>
            </a:schemeClr>
          </a:solidFill>
          <a:effectLst/>
          <a:latin typeface="+mn-lt"/>
          <a:ea typeface="+mn-ea"/>
          <a:cs typeface="+mn-cs"/>
        </a:defRPr>
      </a:lvl4pPr>
      <a:lvl5pPr marL="21145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50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50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50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50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50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AE6628-544E-E70E-9129-136C48C1781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ZA" dirty="0"/>
              <a:t>Insurance Fraud Detection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738876A-B09A-390C-7C90-BCB5190E3E6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Annette van Aarde</a:t>
            </a:r>
          </a:p>
          <a:p>
            <a:r>
              <a:rPr lang="en-US" dirty="0"/>
              <a:t>11 April 2025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0291677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690871-05AD-9076-53B0-3617D5334B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cap="none" dirty="0"/>
              <a:t>Problem Statement</a:t>
            </a:r>
            <a:endParaRPr lang="en-ZA" cap="none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07ABAEA-179D-01B1-BBC4-B9E6EAD1E68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4212" y="2535810"/>
            <a:ext cx="8535988" cy="3458590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Insurance fraud is a growing issue which costs billions annually.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Traditional fraud detection methods are time-consuming and reactive.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There is a need for a data-driven and automated solution flagging suspicious claims.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8973967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0EC8D6A-D5A0-F25A-0AF6-3D8AAE009D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F52595-D621-CD29-09E0-E308F980C7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cap="none" dirty="0"/>
              <a:t>Project Objectives</a:t>
            </a:r>
            <a:endParaRPr lang="en-ZA" cap="none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A8F699-FD35-538A-84D8-279C69A0E3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4212" y="2535810"/>
            <a:ext cx="8535988" cy="3458590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Analyze insurance claims to understand trends.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Identify key features that may contribute to fraudulent activity.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Train and evaluate multiple machine learning models.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Build an interactive Power BI dashboard to generate insights.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Recommend solutions to enhance fraud detection practices.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379457406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7226BD-5CCF-8DF6-5978-0B4D30CB90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C186D3-CEA0-6EE4-29BD-A32758F040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cap="none" dirty="0"/>
              <a:t>Data Source &amp; </a:t>
            </a:r>
            <a:r>
              <a:rPr lang="en-US" cap="none" dirty="0" err="1"/>
              <a:t>Discription</a:t>
            </a:r>
            <a:endParaRPr lang="en-ZA" cap="none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D658DDF-B290-D05E-5928-DE42A6D05C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4212" y="2535810"/>
            <a:ext cx="8535988" cy="3458590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Data was downloaded from GitHub and contained data of approximately 1,000 insurance claims.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Data consisted of 9 columns including the following: </a:t>
            </a:r>
            <a:r>
              <a:rPr lang="en-US" dirty="0" err="1"/>
              <a:t>policy_annual_premium</a:t>
            </a:r>
            <a:r>
              <a:rPr lang="en-US" dirty="0"/>
              <a:t>, </a:t>
            </a:r>
            <a:r>
              <a:rPr lang="en-US" dirty="0" err="1"/>
              <a:t>auto_make</a:t>
            </a:r>
            <a:r>
              <a:rPr lang="en-US" dirty="0"/>
              <a:t>, </a:t>
            </a:r>
            <a:r>
              <a:rPr lang="en-US" dirty="0" err="1"/>
              <a:t>auto_model</a:t>
            </a:r>
            <a:r>
              <a:rPr lang="en-US" dirty="0"/>
              <a:t>, </a:t>
            </a:r>
            <a:r>
              <a:rPr lang="en-US" dirty="0" err="1"/>
              <a:t>Insured_education_level</a:t>
            </a:r>
            <a:r>
              <a:rPr lang="en-US" dirty="0"/>
              <a:t>, </a:t>
            </a:r>
            <a:r>
              <a:rPr lang="en-US" dirty="0" err="1"/>
              <a:t>policy_deductable</a:t>
            </a:r>
            <a:r>
              <a:rPr lang="en-US" dirty="0"/>
              <a:t>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The target was </a:t>
            </a:r>
            <a:r>
              <a:rPr lang="en-US" dirty="0" err="1"/>
              <a:t>fraud_reported</a:t>
            </a:r>
            <a:r>
              <a:rPr lang="en-US" dirty="0"/>
              <a:t> (Yes/No).</a:t>
            </a:r>
          </a:p>
        </p:txBody>
      </p:sp>
    </p:spTree>
    <p:extLst>
      <p:ext uri="{BB962C8B-B14F-4D97-AF65-F5344CB8AC3E}">
        <p14:creationId xmlns:p14="http://schemas.microsoft.com/office/powerpoint/2010/main" val="4193857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02DC5A-0605-0A48-7411-1FB52A6799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814967-D60A-0BD3-348F-70487FAAFC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cap="none" dirty="0"/>
              <a:t>Data Cleaning Process</a:t>
            </a:r>
            <a:endParaRPr lang="en-ZA" cap="none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16AE967-77C7-8C95-E957-97623274996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4212" y="2535810"/>
            <a:ext cx="8535988" cy="3458590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The original data was cleaned in Excel: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Removed blank and irrelevant columns.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Identified and deleted rows with missing values.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Validated summary stats: min, max, mean &amp; mode.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Final cleaned dataset was saved as .csv for modeling and visualization.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241417072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C68E9D-E671-BB6C-D6D4-A3FD448D42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317C8D-B110-843F-612D-A84255F5AF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cap="none" dirty="0"/>
              <a:t>Exploratory data Analysis</a:t>
            </a:r>
            <a:endParaRPr lang="en-ZA" cap="none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5027E92-9297-AEAC-EEC9-7D77FAF3898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4212" y="2535810"/>
            <a:ext cx="8535988" cy="3458590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24,7% of claims were flagged as fraudulent.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Key Insights: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Higher fraud rates were linked to specific occupations such as Clerical, Machine Operator.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Higher </a:t>
            </a:r>
            <a:r>
              <a:rPr lang="en-US" dirty="0" err="1"/>
              <a:t>annual_premium</a:t>
            </a:r>
            <a:r>
              <a:rPr lang="en-US" dirty="0"/>
              <a:t> often tied to fraud.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Some vehicle makes like Dodge, Chevrolet were more common amongst fraud claims.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Education and Occupation have meaningful influence.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5E148A9-05BE-7C99-45B6-60B8EA476E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03761" y="402931"/>
            <a:ext cx="2377646" cy="2415749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3F55BF2-977D-ECC4-8BFC-D42F4B9582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610945" y="3503271"/>
            <a:ext cx="2263336" cy="2263336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F15949E-A57E-B35B-1134-545BF879179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63345" y="3655671"/>
            <a:ext cx="2263336" cy="22633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4971736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8B733B4-C8CC-1525-1AB5-41676C0F9F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931C82-E32F-02EC-5581-159E1B91A2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cap="none" dirty="0"/>
              <a:t>Feature Engineering &amp; Encoding</a:t>
            </a:r>
            <a:endParaRPr lang="en-ZA" cap="none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4E883E-B72B-0735-0D2B-6A6D83B6F7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4212" y="2535810"/>
            <a:ext cx="8535988" cy="3458590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Encoded categorical features using Label Encoding.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Identified and removed low-variance features.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Scaled continuous variables if needed like premiums.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Selected top features using importance scores from Random Forest.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402687186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F78FE3-4579-33A2-228E-4C46DA5109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9136EC-3B32-6B45-F7CA-B19B14A524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cap="none" dirty="0"/>
              <a:t>Feature Engineering &amp; Encoding</a:t>
            </a:r>
            <a:endParaRPr lang="en-ZA" cap="none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3A30D9-046F-607F-0751-336C47394D5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4212" y="2535810"/>
            <a:ext cx="8535988" cy="3458590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Encoded categorical features using Label Encoding.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Identified and removed low-variance features.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Scaled continuous variables if needed like premiums.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Selected top features using importance scores from Random Forest.</a:t>
            </a:r>
            <a:endParaRPr lang="en-ZA" dirty="0"/>
          </a:p>
        </p:txBody>
      </p:sp>
    </p:spTree>
    <p:extLst>
      <p:ext uri="{BB962C8B-B14F-4D97-AF65-F5344CB8AC3E}">
        <p14:creationId xmlns:p14="http://schemas.microsoft.com/office/powerpoint/2010/main" val="94059686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9FDF84-D2E1-7B2A-809E-B37C0CF980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47206A-482F-3578-02DA-D30FE6AD7C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cap="none" dirty="0"/>
              <a:t>Modelling Approach</a:t>
            </a:r>
            <a:endParaRPr lang="en-ZA" cap="none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0A2E38A-12F8-3317-6E59-09B5A90397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4212" y="2535810"/>
            <a:ext cx="8535988" cy="3458590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The following algorithms were evaluated: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Logistic Regression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Decision Tree Classifier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Random Forest Classifier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The final choice was the Random Forrest – due to high performance and ability to handle mixed feature types.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I used train/test split with 80/20 ratio.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176041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DA4F87-1B15-C2EA-4FA0-D633239B46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55CC77-BFF3-CB82-0407-3AF3BB8E3E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cap="none" dirty="0"/>
              <a:t>Power BI Dashboard Highlights</a:t>
            </a:r>
            <a:endParaRPr lang="en-ZA" cap="none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AE61BA5-ABF6-DDA2-0E31-9E7909FA30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4212" y="2535810"/>
            <a:ext cx="8535988" cy="3458590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An interactive dashboard was created for business insights: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Fraud by occupation, education and auto make.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Slicers for filtering by policy limits, vehicle make, etc.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This enables business users to explore patterns and make real-time decisions.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FA6C1A3-2C96-FD43-9389-F5CF6A93E7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63824" y="144458"/>
            <a:ext cx="5137397" cy="2743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159983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603955-61CD-33DF-D6E7-1F4DD4CBA6F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BA64A9-723E-C341-5F67-E51B98C39E6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cap="none" dirty="0"/>
              <a:t>Final Model Summary</a:t>
            </a:r>
            <a:endParaRPr lang="en-ZA" cap="none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C043E6-9FB0-50D8-7912-6A4FB9D83C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4212" y="2535810"/>
            <a:ext cx="8535988" cy="3458590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Model: Random Forest Classifier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Top Features: </a:t>
            </a:r>
            <a:r>
              <a:rPr lang="en-US" dirty="0" err="1"/>
              <a:t>policy_annual_premium</a:t>
            </a:r>
            <a:r>
              <a:rPr lang="en-US" dirty="0"/>
              <a:t>, </a:t>
            </a:r>
            <a:r>
              <a:rPr lang="en-US" dirty="0" err="1"/>
              <a:t>insured_occupation</a:t>
            </a:r>
            <a:r>
              <a:rPr lang="en-US" dirty="0"/>
              <a:t>, </a:t>
            </a:r>
            <a:r>
              <a:rPr lang="en-US" dirty="0" err="1"/>
              <a:t>auto_make</a:t>
            </a:r>
            <a:r>
              <a:rPr lang="en-US" dirty="0"/>
              <a:t>, </a:t>
            </a:r>
            <a:r>
              <a:rPr lang="en-US" dirty="0" err="1"/>
              <a:t>insured_education_level</a:t>
            </a:r>
            <a:endParaRPr lang="en-US" dirty="0"/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Why it was chosen: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Handles mixed data types well.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High accuracy and balanced recall.</a:t>
            </a:r>
          </a:p>
          <a:p>
            <a:pPr marL="800100" lvl="1" indent="-342900">
              <a:buFont typeface="Arial" panose="020B0604020202020204" pitchFamily="34" charset="0"/>
              <a:buChar char="•"/>
            </a:pPr>
            <a:r>
              <a:rPr lang="en-US" dirty="0"/>
              <a:t>Easy to </a:t>
            </a:r>
            <a:r>
              <a:rPr lang="en-US" dirty="0" err="1"/>
              <a:t>imterpret</a:t>
            </a:r>
            <a:r>
              <a:rPr lang="en-US" dirty="0"/>
              <a:t> with feature importances.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9126960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63244C-A191-FBC3-65DF-A248F5C572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D78F8F-96EC-0768-F2FF-0F1F805A52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cap="none" dirty="0"/>
              <a:t>Key Takeaways</a:t>
            </a:r>
            <a:endParaRPr lang="en-ZA" cap="none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5BC5DC2-8E0B-4082-6B4A-78E1A5ED43D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4212" y="2535810"/>
            <a:ext cx="8535988" cy="3458590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Fraud detection will benefit greatly from machine learning.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Specific attributes are strong fraud indicators such as occupation, premium, etc.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Power BI helps visualize complex fraud trends interactively.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Predictive modelling can reduce manual review effort and financial losses.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93522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16BA7A-9C5D-9716-D3A0-E9B240A8A8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1DA7F2-ED4F-830F-404C-B0578289E3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cap="none" dirty="0"/>
              <a:t>Limitations</a:t>
            </a:r>
            <a:endParaRPr lang="en-ZA" cap="none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E78D0E-5CB2-7F5C-003E-87118284E6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4212" y="2535810"/>
            <a:ext cx="8535988" cy="3458590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Small dataset – limited generalizability.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No geographic or behavioral data lie claim history.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May need additional features for real world deployment.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Imbalanced dataset may affect fraud detection sensitivity.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63442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CDE5741-8CB4-A570-B838-0AD7017985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4DD2EA-87E5-305F-32A7-A916401F4C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cap="none" dirty="0"/>
              <a:t>Future Work</a:t>
            </a:r>
            <a:endParaRPr lang="en-ZA" cap="none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D8685B-A2D2-0B0F-27F9-A39E9034B46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84212" y="2535810"/>
            <a:ext cx="8535988" cy="3458590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Add geological and customer history to dataset.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Explore deep learning models for improved performance.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dirty="0"/>
              <a:t>Integrate model with real-time claim processing systems.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9358987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0D5B2E-19D5-5B66-D7BD-C5FD1A8A13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cap="none" dirty="0"/>
              <a:t>Thank You!</a:t>
            </a:r>
            <a:endParaRPr lang="en-ZA" cap="none" dirty="0"/>
          </a:p>
        </p:txBody>
      </p:sp>
    </p:spTree>
    <p:extLst>
      <p:ext uri="{BB962C8B-B14F-4D97-AF65-F5344CB8AC3E}">
        <p14:creationId xmlns:p14="http://schemas.microsoft.com/office/powerpoint/2010/main" val="3100556566"/>
      </p:ext>
    </p:extLst>
  </p:cSld>
  <p:clrMapOvr>
    <a:masterClrMapping/>
  </p:clrMapOvr>
</p:sld>
</file>

<file path=ppt/theme/theme1.xml><?xml version="1.0" encoding="utf-8"?>
<a:theme xmlns:a="http://schemas.openxmlformats.org/drawingml/2006/main" name="Slice">
  <a:themeElements>
    <a:clrScheme name="Slice">
      <a:dk1>
        <a:sysClr val="windowText" lastClr="000000"/>
      </a:dk1>
      <a:lt1>
        <a:sysClr val="window" lastClr="FFFFFF"/>
      </a:lt1>
      <a:dk2>
        <a:srgbClr val="D06F1E"/>
      </a:dk2>
      <a:lt2>
        <a:srgbClr val="F0BE21"/>
      </a:lt2>
      <a:accent1>
        <a:srgbClr val="760603"/>
      </a:accent1>
      <a:accent2>
        <a:srgbClr val="9F761A"/>
      </a:accent2>
      <a:accent3>
        <a:srgbClr val="92A200"/>
      </a:accent3>
      <a:accent4>
        <a:srgbClr val="4AA157"/>
      </a:accent4>
      <a:accent5>
        <a:srgbClr val="46788D"/>
      </a:accent5>
      <a:accent6>
        <a:srgbClr val="A848A8"/>
      </a:accent6>
      <a:hlink>
        <a:srgbClr val="460402"/>
      </a:hlink>
      <a:folHlink>
        <a:srgbClr val="991111"/>
      </a:folHlink>
    </a:clrScheme>
    <a:fontScheme name="Slice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Slic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162000"/>
                <a:satMod val="200000"/>
                <a:lumMod val="124000"/>
              </a:schemeClr>
            </a:gs>
            <a:gs pos="100000">
              <a:schemeClr val="phClr">
                <a:shade val="96000"/>
                <a:hueMod val="88000"/>
                <a:satMod val="220000"/>
                <a:lumMod val="82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142000"/>
                <a:satMod val="200000"/>
                <a:lumMod val="118000"/>
              </a:schemeClr>
            </a:gs>
            <a:gs pos="100000">
              <a:schemeClr val="phClr">
                <a:shade val="92000"/>
                <a:hueMod val="22000"/>
                <a:satMod val="220000"/>
                <a:lumMod val="62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282EB108-EDE6-4B8E-957B-D4A69BF580E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59</TotalTime>
  <Words>585</Words>
  <Application>Microsoft Office PowerPoint</Application>
  <PresentationFormat>Widescreen</PresentationFormat>
  <Paragraphs>74</Paragraphs>
  <Slides>15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9" baseType="lpstr">
      <vt:lpstr>Arial</vt:lpstr>
      <vt:lpstr>Century Gothic</vt:lpstr>
      <vt:lpstr>Wingdings 3</vt:lpstr>
      <vt:lpstr>Slice</vt:lpstr>
      <vt:lpstr>Insurance Fraud Detection</vt:lpstr>
      <vt:lpstr>Problem Statement</vt:lpstr>
      <vt:lpstr>Project Objectives</vt:lpstr>
      <vt:lpstr>Data Source &amp; Discription</vt:lpstr>
      <vt:lpstr>Data Cleaning Process</vt:lpstr>
      <vt:lpstr>Exploratory data Analysis</vt:lpstr>
      <vt:lpstr>Feature Engineering &amp; Encoding</vt:lpstr>
      <vt:lpstr>Feature Engineering &amp; Encoding</vt:lpstr>
      <vt:lpstr>Modelling Approach</vt:lpstr>
      <vt:lpstr>Power BI Dashboard Highlights</vt:lpstr>
      <vt:lpstr>Final Model Summary</vt:lpstr>
      <vt:lpstr>Key Takeaways</vt:lpstr>
      <vt:lpstr>Limitations</vt:lpstr>
      <vt:lpstr>Future Work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Annette van Aarde</dc:creator>
  <cp:lastModifiedBy>Annette van Aarde</cp:lastModifiedBy>
  <cp:revision>9</cp:revision>
  <dcterms:created xsi:type="dcterms:W3CDTF">2025-04-11T11:49:00Z</dcterms:created>
  <dcterms:modified xsi:type="dcterms:W3CDTF">2025-04-11T12:48:15Z</dcterms:modified>
</cp:coreProperties>
</file>